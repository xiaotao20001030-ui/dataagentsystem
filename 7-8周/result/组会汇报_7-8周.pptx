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开场：这次汇报不是只说通过/不通过，而是把失败原因和下一步决策讲清楚。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强调：纯列补实验是为了解决原 random 条件同时加表的问题。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 +28.17pp 主要是题目类型效应；真正稳健的是外键/join 列偏差。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不要再说‘样本不够’：CI 上界已经排除 +10pp。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列断崖不是‘近义词’本身，而是同名跨表干扰。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纯列补实验是最小证实实验；全体指标失败，但条件机制成立。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请导师拍板三件事：Spider 样本量、0.6B 是否退出、RQ3 是否补实验。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收尾：请导师决定 Spider 方案与 0.6B 去留。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BIRD Mini-Dev 7–8 周验证性实验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8803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6E4F0"/>
                </a:solidFill>
              </a:defRPr>
            </a:pPr>
            <a:r>
              <a:t>小模型 Schema 鲁棒性与外键检索偏差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94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D6E2"/>
                </a:solidFill>
              </a:defRPr>
            </a:pPr>
            <a:r>
              <a:t>500 题 · 5 模型 · 预注册门槛 + 事后重分析 + 纯列补实验 · 2026-10-22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预注册问题与实验矩阵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原始假设：小模型加 20 列后，准确率下降比 DeepSeek 多 ≥10pp；且检索更易漏桥接成分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18288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66928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500 题，11 个 SQLite 库；5 个模型：Qwen3-0.6B/1.7B/4B、Qwen2.5-Coder-1.5B、DeepSeek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多给：random / synonym × 5/10/20/50；漏给：移除桥接表 103、外键列 494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纯列补实验：只从 gold tables 加 20 列，不新增表（5 模型 × 1,000 条）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评分：BIRD 官方 set 语义；配对统计按 question_id 聚类 bootstrap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600200"/>
          <a:ext cx="4846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实验块</a:t>
                      </a:r>
                    </a:p>
                  </a:txBody>
                  <a:tcPr marL="54864" marR="54864" marT="27432" marB="27432">
                    <a:solidFill>
                      <a:srgbClr val="2F5D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规模</a:t>
                      </a:r>
                    </a:p>
                  </a:txBody>
                  <a:tcPr marL="54864" marR="54864" marT="27432" marB="27432">
                    <a:solidFill>
                      <a:srgbClr val="2F5D8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latin typeface="PingFang SC"/>
                        </a:defRPr>
                      </a:pPr>
                      <a:r>
                        <a:t>多给扰动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PingFang SC"/>
                        </a:defRPr>
                      </a:pPr>
                      <a:r>
                        <a:t>5 模型 × 9 条件 × 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latin typeface="PingFang SC"/>
                        </a:defRPr>
                      </a:pPr>
                      <a:r>
                        <a:t>真实近义列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PingFang SC"/>
                        </a:defRPr>
                      </a:pPr>
                      <a:r>
                        <a:t>5 模型 × 427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latin typeface="PingFang SC"/>
                        </a:defRPr>
                      </a:pPr>
                      <a:r>
                        <a:t>漏给扰动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PingFang SC"/>
                        </a:defRPr>
                      </a:pPr>
                      <a:r>
                        <a:t>5 模型 × 597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latin typeface="PingFang SC"/>
                        </a:defRPr>
                      </a:pPr>
                      <a:r>
                        <a:t>纯列 20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PingFang SC"/>
                        </a:defRPr>
                      </a:pPr>
                      <a:r>
                        <a:t>5 模型 × 1,000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latin typeface="PingFang SC"/>
                        </a:defRPr>
                      </a:pPr>
                      <a:r>
                        <a:t>检索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PingFang SC"/>
                        </a:defRPr>
                      </a:pPr>
                      <a:r>
                        <a:t>500 题 × k=5/10/20/50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7–8 周验证性实验 · 2026-10-22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检索：偏差在外键列，不在桥接表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k=10 · question-only · 按问题配对 bootstrap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18288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retrieval_matc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41100"/>
            <a:ext cx="7315200" cy="29757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600200"/>
            <a:ext cx="365760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原始指标：桥接成分并集 56.88%，比单表目标列高 28.17pp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加入多表非桥接基线后：桥接表内列 -13.91pp（不显著）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外键/join 列 +13.75pp（CI [+9.79, +17.73]）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question+evidence：外键 +26.11pp，桥接列 +2.15pp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7–8 周验证性实验 · 2026-10-22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执行：原 10pp 门槛不通过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四个小模型的 CI 上界最高 +5.2pp；可排除 +10pp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18288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random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0918"/>
            <a:ext cx="7315200" cy="308472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01000" y="1600200"/>
          <a:ext cx="3566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模型</a:t>
                      </a:r>
                    </a:p>
                  </a:txBody>
                  <a:tcPr marL="54864" marR="54864" marT="27432" marB="27432">
                    <a:solidFill>
                      <a:srgbClr val="2F5D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下降差</a:t>
                      </a:r>
                    </a:p>
                  </a:txBody>
                  <a:tcPr marL="54864" marR="54864" marT="27432" marB="27432">
                    <a:solidFill>
                      <a:srgbClr val="2F5D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95% CI</a:t>
                      </a:r>
                    </a:p>
                  </a:txBody>
                  <a:tcPr marL="54864" marR="54864" marT="27432" marB="27432">
                    <a:solidFill>
                      <a:srgbClr val="2F5D8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latin typeface="PingFang SC"/>
                        </a:defRPr>
                      </a:pPr>
                      <a:r>
                        <a:t>Qwen3-0.6B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PingFang SC"/>
                        </a:defRPr>
                      </a:pPr>
                      <a:r>
                        <a:t>-1.80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PingFang SC"/>
                        </a:defRPr>
                      </a:pPr>
                      <a:r>
                        <a:t>[-5.80, +2.00]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latin typeface="PingFang SC"/>
                        </a:defRPr>
                      </a:pPr>
                      <a:r>
                        <a:t>Qwen3-1.7B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PingFang SC"/>
                        </a:defRPr>
                      </a:pPr>
                      <a:r>
                        <a:t>-1.00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PingFang SC"/>
                        </a:defRPr>
                      </a:pPr>
                      <a:r>
                        <a:t>[-5.40, +3.40]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latin typeface="PingFang SC"/>
                        </a:defRPr>
                      </a:pPr>
                      <a:r>
                        <a:t>Qwen3-4B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PingFang SC"/>
                        </a:defRPr>
                      </a:pPr>
                      <a:r>
                        <a:t>+0.80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PingFang SC"/>
                        </a:defRPr>
                      </a:pPr>
                      <a:r>
                        <a:t>[-3.60, +5.20]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latin typeface="PingFang SC"/>
                        </a:defRPr>
                      </a:pPr>
                      <a:r>
                        <a:t>Coder-1.5B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PingFang SC"/>
                        </a:defRPr>
                      </a:pPr>
                      <a:r>
                        <a:t>-2.20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PingFang SC"/>
                        </a:defRPr>
                      </a:pPr>
                      <a:r>
                        <a:t>[-7.00, +2.60]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01000" y="4343400"/>
            <a:ext cx="36576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</a:defRPr>
            </a:pPr>
            <a:r>
              <a:t>• 全体门槛失败，但 baseline-correct 额外失败 25.98–34.48pp</a:t>
            </a:r>
          </a:p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</a:defRPr>
            </a:pPr>
            <a:r>
              <a:t>• 说明原门槛受 baseline floor effect 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7–8 周验证性实验 · 2026-10-22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两个实现层面的混淆必须修正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随机条件加表；5 列断崖主要来自 same_name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18288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_synonym_and_same_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1512"/>
            <a:ext cx="7406640" cy="30092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1645920"/>
            <a:ext cx="35661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add_random_20：494/500 个变体至少新增一张表，58.9% 新增列来自新表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add_synonym_5：63.5% 是 same_name；same_name=0 时 Qwen3-4B 仍有 59.3%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真实近义列：423/427 题引入新表，不能单独归因于词法真实性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7–8 周验证性实验 · 2026-10-22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纯列 20：全体门槛仍失败，机制仍显著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只加列、不加表；5 模型 × 1,000 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18288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pure_colu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8974"/>
            <a:ext cx="7406640" cy="30114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1600200"/>
            <a:ext cx="3566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下降差：+0.60 / +4.60 / +1.80 / -3.80pp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四个 CI 上界均 &lt;10pp，全体门槛仍不通过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baseline-correct：+32.35 / +34.13 / +10.00 / +20.51pp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结论：原失败不是‘加表’造成的假象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7–8 周验证性实验 · 2026-10-22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结论与请导师决定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原假设未确认；失败原因已定位，下一步换指标、补样本量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18288"/>
          </a:xfrm>
          <a:prstGeom prst="rect">
            <a:avLst/>
          </a:prstGeom>
          <a:solidFill>
            <a:srgbClr val="D9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120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方案</a:t>
                      </a:r>
                    </a:p>
                  </a:txBody>
                  <a:tcPr marL="54864" marR="54864" marT="27432" marB="27432">
                    <a:solidFill>
                      <a:srgbClr val="2F5D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做法</a:t>
                      </a:r>
                    </a:p>
                  </a:txBody>
                  <a:tcPr marL="54864" marR="54864" marT="27432" marB="27432">
                    <a:solidFill>
                      <a:srgbClr val="2F5D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评价</a:t>
                      </a:r>
                    </a:p>
                  </a:txBody>
                  <a:tcPr marL="54864" marR="54864" marT="27432" marB="27432">
                    <a:solidFill>
                      <a:srgbClr val="2F5D8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latin typeface="PingFang SC"/>
                        </a:defRPr>
                      </a:pPr>
                      <a:r>
                        <a:t>A 50 题 pilot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PingFang SC"/>
                        </a:defRPr>
                      </a:pPr>
                      <a:r>
                        <a:t>官方可见 50 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PingFang SC"/>
                        </a:defRPr>
                      </a:pPr>
                      <a:r>
                        <a:t>可立即做；0.6B 共同正确约 5 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latin typeface="PingFang SC"/>
                        </a:defRPr>
                      </a:pPr>
                      <a:r>
                        <a:t>B 补 85 条 SQL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PingFang SC"/>
                        </a:defRPr>
                      </a:pPr>
                      <a:r>
                        <a:t>到 135 题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PingFang SC"/>
                        </a:defRPr>
                      </a:pPr>
                      <a:r>
                        <a:t>最接近原计划；0.6B 仍可能 &lt;30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latin typeface="PingFang SC"/>
                        </a:defRPr>
                      </a:pPr>
                      <a:r>
                        <a:t>C 表级 135 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PingFang SC"/>
                        </a:defRPr>
                      </a:pPr>
                      <a:r>
                        <a:t>gold tables 全列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PingFang SC"/>
                        </a:defRPr>
                      </a:pPr>
                      <a:r>
                        <a:t>研究变量变成表级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latin typeface="PingFang SC"/>
                        </a:defRPr>
                      </a:pPr>
                      <a:r>
                        <a:t>D 收缩 RQ1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PingFang SC"/>
                        </a:defRPr>
                      </a:pPr>
                      <a:r>
                        <a:t>BIRD + 可用 Spider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PingFang SC"/>
                        </a:defRPr>
                      </a:pPr>
                      <a:r>
                        <a:t>风险最低，任务书兜底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343400"/>
            <a:ext cx="1078992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建议：A 先做 pilot + 向作者申请剩余 gold SQL；确认性主指标改为 baseline-correct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独立决策：Qwen3-0.6B 是否退出确认性 gate？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若 RQ3 要立住：补 retrieved-schema 执行条件（约 2,500 条预测）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7–8 周验证性实验 · 2026-10-22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3832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6E4F0"/>
                </a:solidFill>
              </a:defRPr>
            </a:pPr>
            <a:r>
              <a:t>原假设未确认，但机制已定位：外键检索、同名干扰、baseline 条件效应。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